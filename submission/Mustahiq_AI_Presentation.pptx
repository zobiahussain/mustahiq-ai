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46304" cy="1920240"/>
          </a:xfrm>
          <a:prstGeom prst="rect">
            <a:avLst/>
          </a:prstGeom>
          <a:solidFill>
            <a:srgbClr val="DC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75BAFF"/>
                </a:solidFill>
                <a:latin typeface="Inter"/>
                <a:ea typeface="Inter"/>
                <a:cs typeface="Inter"/>
              </a:rPr>
              <a:t>ALIBABA CLOUD AI HACKATHON  ·  HOSTED BY AL-KHIDMAT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Mustahiq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B0C8DC"/>
                </a:solidFill>
                <a:latin typeface="Inter"/>
                <a:ea typeface="Inter"/>
                <a:cs typeface="Inter"/>
              </a:rPr>
              <a:t>Finding, verifying and fairly allocating aid — </a:t>
            </a:r>
            <a:r>
              <a:rPr sz="2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and helping beneficiaries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029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A staff decision-support layer for Al-Khidmat's beneficiary programmes, plus a no-fee marketplace for micro-entrepreneurs.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638FB5"/>
                </a:solidFill>
                <a:latin typeface="Inter"/>
                <a:ea typeface="Inter"/>
                <a:cs typeface="Inter"/>
              </a:rPr>
              <a:t>A team submission  ·  built end to end on free-tier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Deciding who gets limited help is manual — and hard to defend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0312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A household often qualifies for several programmes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but a field officer only has time to check one or two, so real needs are missed.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91256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145536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“Why them and not me?” has no clear answer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prioritisation lives in spreadsheets and memory; two officers rank the same people differently.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336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87952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Verification, waiting lists and budgets are tracked by hand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across programmes and cycles — slow, and easy to lose.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27608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D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900" b="1">
                <a:solidFill>
                  <a:srgbClr val="DC0505"/>
                </a:solidFill>
                <a:latin typeface="Inter"/>
                <a:ea typeface="Inter"/>
                <a:cs typeface="Inter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5230368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A beneficiary who starts a business is on their own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the loan ends; nobody connects them to suppliers, customers or partners.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One platform, two sides, a shared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212080" cy="868680"/>
          </a:xfrm>
          <a:prstGeom prst="roundRect">
            <a:avLst>
              <a:gd name="adj" fmla="val 8000"/>
            </a:avLst>
          </a:prstGeom>
          <a:solidFill>
            <a:srgbClr val="E1EDF8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STAFF PORTAL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Al-Khidmat field officers &amp; managers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029200" cy="868680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MARKETPLACE APP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Beneficiaries with a business loan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27248"/>
            <a:ext cx="52120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Enter a profile in conversation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Review suggested programmes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Verify need · rank the pool · allocate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127248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Describe a business by voice, any language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Get matched: inputs · customers · workers · partners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Both sides notified — they connect directly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29200"/>
            <a:ext cx="10561320" cy="1188720"/>
          </a:xfrm>
          <a:prstGeom prst="roundRect">
            <a:avLst>
              <a:gd name="adj" fmla="val 8000"/>
            </a:avLst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9FD4FF"/>
                </a:solidFill>
                <a:latin typeface="Inter"/>
                <a:ea typeface="Inter"/>
                <a:cs typeface="Inter"/>
              </a:rPr>
              <a:t>SHARED ENGINE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Deterministic rules  +  XGBoost confidence model  +  retrieval over real policy text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B0C8DC"/>
                </a:solidFill>
                <a:latin typeface="Inter"/>
                <a:ea typeface="Inter"/>
                <a:cs typeface="Inter"/>
              </a:rPr>
              <a:t>FastAPI  ·  Supabase / Postgres + pgvector  ·  Groq (text only)  ·  free-tier infrastructure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2834640"/>
            <a:ext cx="0" cy="292608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29000" y="4453128"/>
            <a:ext cx="0" cy="576072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69680" y="2834640"/>
            <a:ext cx="0" cy="292608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0" y="4453128"/>
            <a:ext cx="0" cy="576072"/>
          </a:xfrm>
          <a:prstGeom prst="line">
            <a:avLst/>
          </a:prstGeom>
          <a:ln w="22225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Eligibility: a five-stage pipeline, humans in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E1EDF8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1  DISCOVER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Score the profile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against every active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programme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16935" y="3291839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35808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2  POOL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Staff choose which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suggestions to pursue.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Nobody contacted yet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9783" y="3291839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48656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3  VERIFY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 home visit confirms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real need — can fail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and exit here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42631" y="3291839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4  RANK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Bi-weekly cycle ranks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everyone waiting on one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transparent rubric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55480" y="3291839"/>
            <a:ext cx="109728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331720"/>
            <a:ext cx="2084831" cy="1965960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5  ALLOCATE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Staff fund the top of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the list within budget.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Rest roll 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754880"/>
            <a:ext cx="105613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42544"/>
                </a:solidFill>
                <a:latin typeface="Inter"/>
                <a:ea typeface="Inter"/>
                <a:cs typeface="Inter"/>
              </a:rPr>
              <a:t>Rules ELIMINATE. The model only RANKS confidence that verification will confirm need.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No LLM anywhere in scoring   ·   no automatic enrolment   ·   a failed verification simply exits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Every ranking is explainable — to the factor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7607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THE RUBRIC, SHOWN TO STAFF  ·  one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Income (inverse)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6517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30%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962656"/>
            <a:ext cx="5212080" cy="64008"/>
          </a:xfrm>
          <a:prstGeom prst="round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1868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Dependents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2186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529584"/>
            <a:ext cx="347472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85615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Disability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785615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096511"/>
            <a:ext cx="260604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525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No prior assistance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352544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20%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663440"/>
            <a:ext cx="347472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9194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School-age children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919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15%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230368"/>
            <a:ext cx="2606040" cy="64008"/>
          </a:xfrm>
          <a:prstGeom prst="roundRect">
            <a:avLst/>
          </a:prstGeom>
          <a:solidFill>
            <a:srgbClr val="E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53212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Weights are set per programme and snapshotted with every cycle.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965960"/>
            <a:ext cx="4526280" cy="1874519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STRUCTURAL FAIRNESS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How someone entered — staff-identified or walk-in — is recorded for audit and can never enter a ranking calculation.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206240"/>
            <a:ext cx="45262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PLAIN-LANGUAGE REASONS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Every suggestion and every rank comes with a sentence a caseworker can read aloud — traceable to the real policy text it came from.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75BAFF"/>
                </a:solidFill>
                <a:latin typeface="Inter"/>
                <a:ea typeface="Inter"/>
                <a:cs typeface="Inter"/>
              </a:rPr>
              <a:t>THE CONFIDENCE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9611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One measurable job, done carefully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5257800" cy="3794760"/>
          </a:xfrm>
          <a:prstGeom prst="roundRect">
            <a:avLst>
              <a:gd name="adj" fmla="val 6000"/>
            </a:avLst>
          </a:prstGeom>
          <a:solidFill>
            <a:srgbClr val="0E48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9FD4FF"/>
                </a:solidFill>
                <a:latin typeface="Inter"/>
                <a:ea typeface="Inter"/>
                <a:cs typeface="Inter"/>
              </a:rPr>
              <a:t>WHAT THE MODEL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XGBoost — gradient-boosted trees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47288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Trained on 15,000 synthetic 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14215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~54,000 labelled (profile, programme)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81144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Held-out ROC-AUC ~0.76 · F1 ~0.71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48072"/>
            <a:ext cx="4709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Predicts one thing: will verification confirm need?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029200" cy="3794760"/>
          </a:xfrm>
          <a:prstGeom prst="roundRect">
            <a:avLst>
              <a:gd name="adj" fmla="val 6000"/>
            </a:avLst>
          </a:prstGeom>
          <a:solidFill>
            <a:srgbClr val="5A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860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2B8B8"/>
                </a:solidFill>
                <a:latin typeface="Inter"/>
                <a:ea typeface="Inter"/>
                <a:cs typeface="Inter"/>
              </a:rPr>
              <a:t>WHAT IT DOES NOT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No LLM in the scoring path — deterministic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47288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No training on real beneficiary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014215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Never enrols anyone — staff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581144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Never a funding priority — that's the rubric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5148072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Confidence shown only as low / medium / 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In production, real verification outcomes become the training labels — the platform improves as it is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The marketplace: from a loan to a network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E1EDF8"/>
          </a:solidFill>
          <a:ln w="12700">
            <a:solidFill>
              <a:srgbClr val="00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Business loan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recorded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16935" y="2898648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35808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Beneficiary opens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the app, describes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their business by voice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9783" y="2898648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48656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Matched across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3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42631" y="2898648"/>
            <a:ext cx="109729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Both sides notified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by SMS / email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55480" y="2898648"/>
            <a:ext cx="109728" cy="0"/>
          </a:xfrm>
          <a:prstGeom prst="line">
            <a:avLst/>
          </a:prstGeom>
          <a:ln w="25400">
            <a:solidFill>
              <a:srgbClr val="7382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19456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12700">
            <a:solidFill>
              <a:srgbClr val="5AA6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They connect and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24384B"/>
                </a:solidFill>
                <a:latin typeface="Inter"/>
                <a:ea typeface="Inter"/>
                <a:cs typeface="Inter"/>
              </a:rPr>
              <a:t>deal directly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977639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MATCHED ACROSS 3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70832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SUPPLY CHAIN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 supplier  ↔  a business that needs those inputs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370832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EMPLOYMENT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a business that needs a skill  ↔  someone who has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4370832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JOINT VENTURE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24384B"/>
                </a:solidFill>
                <a:latin typeface="Inter"/>
                <a:ea typeface="Inter"/>
                <a:cs typeface="Inter"/>
              </a:rPr>
              <a:t>two owners, complementary skills  →  one new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No fees, ever. No commission. Al-Khidmat introduces only — terms and pricing are between the two businesses.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The staff portal and the marketplace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72768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Two web apps over one API and engine. Every screen here is running on synthetic demo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STAFF PORTAL  ·  overview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2322576"/>
            <a:ext cx="7424927" cy="3493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77440"/>
            <a:ext cx="7315200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9640" y="20116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5AA632"/>
                </a:solidFill>
                <a:latin typeface="Inter"/>
                <a:ea typeface="Inter"/>
                <a:cs typeface="Inter"/>
              </a:rPr>
              <a:t>MARKETPLACE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94776" y="2322576"/>
            <a:ext cx="2441448" cy="36758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rket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2331720" cy="3566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1248" y="60533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042544"/>
                </a:solidFill>
                <a:latin typeface="Inter"/>
                <a:ea typeface="Inter"/>
                <a:cs typeface="Inter"/>
              </a:rPr>
              <a:t>Built end to end and tested — 41 eligibility tests, 33 staff-workflow tests, plus marketplace smoke tests.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MUSTAHIQ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42544"/>
                </a:solidFill>
                <a:latin typeface="Poppins"/>
                <a:ea typeface="Poppins"/>
                <a:cs typeface="Poppins"/>
              </a:rPr>
              <a:t>Built for the real constraints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Free tier only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No GPU. Local CPU embeddings, hosted rules + trees, Groq free tier for text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Every answer is cited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Retrieval runs over uploaded policy documents — never the open web.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832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Any language in, English pipeline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A beneficiary speaks Urdu or Punjabi; matching still 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3832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Staff-operated by design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Beneficiaries never log into the eligibility side. The marketplace is the deliberate exception.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006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Two scheduled jobs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Bi-weekly ranking cycle and a daily marketplace cleanup — the only things not real-time.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8006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1">
                <a:solidFill>
                  <a:srgbClr val="0060AE"/>
                </a:solidFill>
                <a:latin typeface="Inter"/>
                <a:ea typeface="Inter"/>
                <a:cs typeface="Inter"/>
              </a:rPr>
              <a:t>Rate-limit aware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One Groq wrapper, live token logging, automatic fallback key on a 429.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738294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19088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1">
                <a:solidFill>
                  <a:srgbClr val="738294"/>
                </a:solidFill>
                <a:latin typeface="Inter"/>
                <a:ea typeface="Inter"/>
                <a:cs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75BAFF"/>
                </a:solidFill>
                <a:latin typeface="Inter"/>
                <a:ea typeface="Inter"/>
                <a:cs typeface="Inter"/>
              </a:rPr>
              <a:t>WHAT CHANGES FOR AL-KHIDMAT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Faster, consistent, defensible aid — and a path to self-reliance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2B8B8"/>
                </a:solidFill>
                <a:latin typeface="Inter"/>
                <a:ea typeface="Inter"/>
                <a:cs typeface="Inter"/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B6E09C"/>
                </a:solidFill>
                <a:latin typeface="Inter"/>
                <a:ea typeface="Inter"/>
                <a:cs typeface="Inter"/>
              </a:rPr>
              <a:t>WITH MUSTAHIQ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One programme checked per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65176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Every active programme, in milliseconds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93008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Prioritisation by memory &amp; spreadsheet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93008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One rubric, snapshotted, factor-by-factor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34256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“Why them?” — no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334256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 plain-language reason for every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75504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C7DDEF"/>
                </a:solidFill>
                <a:latin typeface="Inter"/>
                <a:ea typeface="Inter"/>
                <a:cs typeface="Inter"/>
              </a:rPr>
              <a:t>Loan ends, beneficiary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75504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Matched to a network that keeps their business going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Roadmap: real verification data → model retraining loop · row-level security · production auth &amp; payments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2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46304" cy="1920240"/>
          </a:xfrm>
          <a:prstGeom prst="rect">
            <a:avLst/>
          </a:prstGeom>
          <a:solidFill>
            <a:srgbClr val="5AA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From aid, to auditable aid,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>
                <a:solidFill>
                  <a:srgbClr val="87BDF0"/>
                </a:solidFill>
                <a:latin typeface="Poppins"/>
                <a:ea typeface="Poppins"/>
                <a:cs typeface="Poppins"/>
              </a:rPr>
              <a:t>to self-reliance.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663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FBAD2"/>
                </a:solidFill>
                <a:latin typeface="Inter"/>
                <a:ea typeface="Inter"/>
                <a:cs typeface="Inter"/>
              </a:rPr>
              <a:t>Mustahiq AI  ·  Alibaba Cloud AI Hackathon  ·  hosted by Al-Khidmat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Repository:  github.com/zobiahussain/mustahiq-ai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